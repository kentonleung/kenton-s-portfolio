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9" r:id="rId2"/>
    <p:sldId id="270" r:id="rId3"/>
    <p:sldId id="266" r:id="rId4"/>
    <p:sldId id="257" r:id="rId5"/>
    <p:sldId id="263" r:id="rId6"/>
    <p:sldId id="258" r:id="rId7"/>
    <p:sldId id="264" r:id="rId8"/>
    <p:sldId id="259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34824-CFDC-4FF4-ABA5-70323F4460E9}" v="46" dt="2026-05-13T15:51:36.2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ton Leung" userId="c2c62abb41242476" providerId="LiveId" clId="{B229F112-46A1-4868-9D32-EEF4E500114F}"/>
    <pc:docChg chg="undo custSel addSld delSld modSld sldOrd">
      <pc:chgData name="Kenton Leung" userId="c2c62abb41242476" providerId="LiveId" clId="{B229F112-46A1-4868-9D32-EEF4E500114F}" dt="2026-05-13T17:41:43.788" v="7471" actId="14100"/>
      <pc:docMkLst>
        <pc:docMk/>
      </pc:docMkLst>
      <pc:sldChg chg="addSp delSp modSp new mod ord">
        <pc:chgData name="Kenton Leung" userId="c2c62abb41242476" providerId="LiveId" clId="{B229F112-46A1-4868-9D32-EEF4E500114F}" dt="2026-05-13T17:41:43.788" v="7471" actId="14100"/>
        <pc:sldMkLst>
          <pc:docMk/>
          <pc:sldMk cId="3181342164" sldId="269"/>
        </pc:sldMkLst>
        <pc:spChg chg="mod">
          <ac:chgData name="Kenton Leung" userId="c2c62abb41242476" providerId="LiveId" clId="{B229F112-46A1-4868-9D32-EEF4E500114F}" dt="2026-05-12T14:29:24.328" v="6264" actId="20577"/>
          <ac:spMkLst>
            <pc:docMk/>
            <pc:sldMk cId="3181342164" sldId="269"/>
            <ac:spMk id="2" creationId="{63173BCF-FD7A-49AB-0F53-1B41C444E820}"/>
          </ac:spMkLst>
        </pc:spChg>
        <pc:spChg chg="add mod">
          <ac:chgData name="Kenton Leung" userId="c2c62abb41242476" providerId="LiveId" clId="{B229F112-46A1-4868-9D32-EEF4E500114F}" dt="2026-05-11T18:25:46.494" v="5479" actId="1076"/>
          <ac:spMkLst>
            <pc:docMk/>
            <pc:sldMk cId="3181342164" sldId="269"/>
            <ac:spMk id="27" creationId="{E6929409-DEA7-B948-9E2E-EF6A55D0EE64}"/>
          </ac:spMkLst>
        </pc:spChg>
        <pc:spChg chg="add mod">
          <ac:chgData name="Kenton Leung" userId="c2c62abb41242476" providerId="LiveId" clId="{B229F112-46A1-4868-9D32-EEF4E500114F}" dt="2026-05-11T18:34:37.019" v="5908" actId="1076"/>
          <ac:spMkLst>
            <pc:docMk/>
            <pc:sldMk cId="3181342164" sldId="269"/>
            <ac:spMk id="28" creationId="{5C636343-EB37-B48F-18CC-EDBD5F72EA86}"/>
          </ac:spMkLst>
        </pc:spChg>
        <pc:spChg chg="add mod">
          <ac:chgData name="Kenton Leung" userId="c2c62abb41242476" providerId="LiveId" clId="{B229F112-46A1-4868-9D32-EEF4E500114F}" dt="2026-05-13T17:41:39.740" v="7470" actId="20577"/>
          <ac:spMkLst>
            <pc:docMk/>
            <pc:sldMk cId="3181342164" sldId="269"/>
            <ac:spMk id="29" creationId="{3C744034-44A4-33E7-2F1F-CB76B485F2EB}"/>
          </ac:spMkLst>
        </pc:spChg>
        <pc:spChg chg="add mod">
          <ac:chgData name="Kenton Leung" userId="c2c62abb41242476" providerId="LiveId" clId="{B229F112-46A1-4868-9D32-EEF4E500114F}" dt="2026-05-12T14:34:04.864" v="6526" actId="1076"/>
          <ac:spMkLst>
            <pc:docMk/>
            <pc:sldMk cId="3181342164" sldId="269"/>
            <ac:spMk id="30" creationId="{F11CE12A-EE0B-92E5-CAB8-621F1D7EECF2}"/>
          </ac:spMkLst>
        </pc:spChg>
        <pc:spChg chg="add mod">
          <ac:chgData name="Kenton Leung" userId="c2c62abb41242476" providerId="LiveId" clId="{B229F112-46A1-4868-9D32-EEF4E500114F}" dt="2026-05-13T17:39:22.874" v="7450" actId="20577"/>
          <ac:spMkLst>
            <pc:docMk/>
            <pc:sldMk cId="3181342164" sldId="269"/>
            <ac:spMk id="38" creationId="{C4F6779A-45A2-F219-7A56-A0F8C64A8BCC}"/>
          </ac:spMkLst>
        </pc:spChg>
        <pc:spChg chg="add mod">
          <ac:chgData name="Kenton Leung" userId="c2c62abb41242476" providerId="LiveId" clId="{B229F112-46A1-4868-9D32-EEF4E500114F}" dt="2026-05-12T07:34:18.952" v="6202"/>
          <ac:spMkLst>
            <pc:docMk/>
            <pc:sldMk cId="3181342164" sldId="269"/>
            <ac:spMk id="39" creationId="{EE2AA461-4FA5-DD3B-F722-DA609BD0A57A}"/>
          </ac:spMkLst>
        </pc:spChg>
        <pc:spChg chg="add mod">
          <ac:chgData name="Kenton Leung" userId="c2c62abb41242476" providerId="LiveId" clId="{B229F112-46A1-4868-9D32-EEF4E500114F}" dt="2026-05-11T18:36:02.581" v="5990" actId="1076"/>
          <ac:spMkLst>
            <pc:docMk/>
            <pc:sldMk cId="3181342164" sldId="269"/>
            <ac:spMk id="42" creationId="{71AAD0AF-8B37-723B-57D1-97644F0EEE0F}"/>
          </ac:spMkLst>
        </pc:spChg>
        <pc:spChg chg="add mod">
          <ac:chgData name="Kenton Leung" userId="c2c62abb41242476" providerId="LiveId" clId="{B229F112-46A1-4868-9D32-EEF4E500114F}" dt="2026-05-11T18:37:15.136" v="6084" actId="1076"/>
          <ac:spMkLst>
            <pc:docMk/>
            <pc:sldMk cId="3181342164" sldId="269"/>
            <ac:spMk id="43" creationId="{FA6BB8C2-A203-842F-5415-C5E14BDE1B63}"/>
          </ac:spMkLst>
        </pc:spChg>
        <pc:spChg chg="add mod">
          <ac:chgData name="Kenton Leung" userId="c2c62abb41242476" providerId="LiveId" clId="{B229F112-46A1-4868-9D32-EEF4E500114F}" dt="2026-05-12T14:30:54.194" v="6340" actId="1076"/>
          <ac:spMkLst>
            <pc:docMk/>
            <pc:sldMk cId="3181342164" sldId="269"/>
            <ac:spMk id="44" creationId="{7E74028A-23AF-1FC2-7272-BB7CA4DDF72C}"/>
          </ac:spMkLst>
        </pc:spChg>
        <pc:spChg chg="add mod">
          <ac:chgData name="Kenton Leung" userId="c2c62abb41242476" providerId="LiveId" clId="{B229F112-46A1-4868-9D32-EEF4E500114F}" dt="2026-05-12T14:35:32.820" v="6624" actId="20577"/>
          <ac:spMkLst>
            <pc:docMk/>
            <pc:sldMk cId="3181342164" sldId="269"/>
            <ac:spMk id="45" creationId="{AF3D6D77-EF1C-459D-BF56-2DD3ED5B0790}"/>
          </ac:spMkLst>
        </pc:spChg>
        <pc:spChg chg="add mod">
          <ac:chgData name="Kenton Leung" userId="c2c62abb41242476" providerId="LiveId" clId="{B229F112-46A1-4868-9D32-EEF4E500114F}" dt="2026-05-12T14:32:32.566" v="6480" actId="1076"/>
          <ac:spMkLst>
            <pc:docMk/>
            <pc:sldMk cId="3181342164" sldId="269"/>
            <ac:spMk id="46" creationId="{2A6C90DC-50D2-5049-6BE4-1879C880604B}"/>
          </ac:spMkLst>
        </pc:spChg>
        <pc:spChg chg="add mod">
          <ac:chgData name="Kenton Leung" userId="c2c62abb41242476" providerId="LiveId" clId="{B229F112-46A1-4868-9D32-EEF4E500114F}" dt="2026-05-12T16:16:12.374" v="6654" actId="1076"/>
          <ac:spMkLst>
            <pc:docMk/>
            <pc:sldMk cId="3181342164" sldId="269"/>
            <ac:spMk id="47" creationId="{C7E82E6E-76CC-EF16-868C-3F6551FD9D2A}"/>
          </ac:spMkLst>
        </pc:spChg>
        <pc:picChg chg="add mod ord modCrop">
          <ac:chgData name="Kenton Leung" userId="c2c62abb41242476" providerId="LiveId" clId="{B229F112-46A1-4868-9D32-EEF4E500114F}" dt="2026-05-13T17:41:13.791" v="7464" actId="1076"/>
          <ac:picMkLst>
            <pc:docMk/>
            <pc:sldMk cId="3181342164" sldId="269"/>
            <ac:picMk id="4" creationId="{202E372F-43E0-22A7-C156-1CE03B6AB3D7}"/>
          </ac:picMkLst>
        </pc:picChg>
        <pc:picChg chg="add mod modCrop">
          <ac:chgData name="Kenton Leung" userId="c2c62abb41242476" providerId="LiveId" clId="{B229F112-46A1-4868-9D32-EEF4E500114F}" dt="2026-05-11T18:25:10.219" v="5473" actId="14100"/>
          <ac:picMkLst>
            <pc:docMk/>
            <pc:sldMk cId="3181342164" sldId="269"/>
            <ac:picMk id="10" creationId="{99816D02-8DA2-5FCD-AB2D-5BEB6F57EF45}"/>
          </ac:picMkLst>
        </pc:picChg>
        <pc:picChg chg="add mod">
          <ac:chgData name="Kenton Leung" userId="c2c62abb41242476" providerId="LiveId" clId="{B229F112-46A1-4868-9D32-EEF4E500114F}" dt="2026-05-11T18:25:49.256" v="5480" actId="14100"/>
          <ac:picMkLst>
            <pc:docMk/>
            <pc:sldMk cId="3181342164" sldId="269"/>
            <ac:picMk id="12" creationId="{F6F7A95F-0E0F-580F-855E-BDC5F5048DD2}"/>
          </ac:picMkLst>
        </pc:picChg>
        <pc:picChg chg="add mod modCrop">
          <ac:chgData name="Kenton Leung" userId="c2c62abb41242476" providerId="LiveId" clId="{B229F112-46A1-4868-9D32-EEF4E500114F}" dt="2026-05-11T18:25:02.090" v="5471" actId="14100"/>
          <ac:picMkLst>
            <pc:docMk/>
            <pc:sldMk cId="3181342164" sldId="269"/>
            <ac:picMk id="16" creationId="{5948B4FD-0899-EA8E-6662-78F903B7EE45}"/>
          </ac:picMkLst>
        </pc:picChg>
        <pc:picChg chg="add del mod">
          <ac:chgData name="Kenton Leung" userId="c2c62abb41242476" providerId="LiveId" clId="{B229F112-46A1-4868-9D32-EEF4E500114F}" dt="2026-05-13T17:40:55.935" v="7461" actId="478"/>
          <ac:picMkLst>
            <pc:docMk/>
            <pc:sldMk cId="3181342164" sldId="269"/>
            <ac:picMk id="18" creationId="{31090185-84A9-C4C6-0CE2-AEE9F9C890B7}"/>
          </ac:picMkLst>
        </pc:picChg>
        <pc:picChg chg="add mod">
          <ac:chgData name="Kenton Leung" userId="c2c62abb41242476" providerId="LiveId" clId="{B229F112-46A1-4868-9D32-EEF4E500114F}" dt="2026-05-11T18:34:37.019" v="5908" actId="1076"/>
          <ac:picMkLst>
            <pc:docMk/>
            <pc:sldMk cId="3181342164" sldId="269"/>
            <ac:picMk id="20" creationId="{59D81D7E-92EC-4E5A-E3A2-A412F6F54221}"/>
          </ac:picMkLst>
        </pc:picChg>
        <pc:picChg chg="add mod">
          <ac:chgData name="Kenton Leung" userId="c2c62abb41242476" providerId="LiveId" clId="{B229F112-46A1-4868-9D32-EEF4E500114F}" dt="2026-05-11T18:34:37.019" v="5908" actId="1076"/>
          <ac:picMkLst>
            <pc:docMk/>
            <pc:sldMk cId="3181342164" sldId="269"/>
            <ac:picMk id="22" creationId="{B5C9F874-007E-368A-780E-98DB87EAEAF2}"/>
          </ac:picMkLst>
        </pc:picChg>
        <pc:picChg chg="add mod modCrop">
          <ac:chgData name="Kenton Leung" userId="c2c62abb41242476" providerId="LiveId" clId="{B229F112-46A1-4868-9D32-EEF4E500114F}" dt="2026-05-11T18:35:52.480" v="5989" actId="1076"/>
          <ac:picMkLst>
            <pc:docMk/>
            <pc:sldMk cId="3181342164" sldId="269"/>
            <ac:picMk id="26" creationId="{8F262BA7-E0E3-DA00-D64D-0D5DC3BFE24F}"/>
          </ac:picMkLst>
        </pc:picChg>
        <pc:cxnChg chg="add mod">
          <ac:chgData name="Kenton Leung" userId="c2c62abb41242476" providerId="LiveId" clId="{B229F112-46A1-4868-9D32-EEF4E500114F}" dt="2026-05-13T17:41:39.740" v="7470" actId="20577"/>
          <ac:cxnSpMkLst>
            <pc:docMk/>
            <pc:sldMk cId="3181342164" sldId="269"/>
            <ac:cxnSpMk id="32" creationId="{C0FECD52-F3EF-C358-5193-A59AAC7058D8}"/>
          </ac:cxnSpMkLst>
        </pc:cxnChg>
        <pc:cxnChg chg="add mod">
          <ac:chgData name="Kenton Leung" userId="c2c62abb41242476" providerId="LiveId" clId="{B229F112-46A1-4868-9D32-EEF4E500114F}" dt="2026-05-13T17:41:43.788" v="7471" actId="14100"/>
          <ac:cxnSpMkLst>
            <pc:docMk/>
            <pc:sldMk cId="3181342164" sldId="269"/>
            <ac:cxnSpMk id="35" creationId="{31D92F97-6EB6-9C7D-47E2-E89A9A791D08}"/>
          </ac:cxnSpMkLst>
        </pc:cxnChg>
      </pc:sldChg>
      <pc:sldChg chg="addSp delSp modSp add mod">
        <pc:chgData name="Kenton Leung" userId="c2c62abb41242476" providerId="LiveId" clId="{B229F112-46A1-4868-9D32-EEF4E500114F}" dt="2026-05-13T15:52:49.933" v="7449" actId="20577"/>
        <pc:sldMkLst>
          <pc:docMk/>
          <pc:sldMk cId="2933133016" sldId="270"/>
        </pc:sldMkLst>
        <pc:spChg chg="mod">
          <ac:chgData name="Kenton Leung" userId="c2c62abb41242476" providerId="LiveId" clId="{B229F112-46A1-4868-9D32-EEF4E500114F}" dt="2026-05-13T15:51:47.772" v="7359" actId="27636"/>
          <ac:spMkLst>
            <pc:docMk/>
            <pc:sldMk cId="2933133016" sldId="270"/>
            <ac:spMk id="2" creationId="{5C1CDDDB-5F62-1E21-FAB9-9DF7CB30C5DB}"/>
          </ac:spMkLst>
        </pc:spChg>
        <pc:spChg chg="add mod">
          <ac:chgData name="Kenton Leung" userId="c2c62abb41242476" providerId="LiveId" clId="{B229F112-46A1-4868-9D32-EEF4E500114F}" dt="2026-05-13T15:51:18.114" v="7356" actId="1076"/>
          <ac:spMkLst>
            <pc:docMk/>
            <pc:sldMk cId="2933133016" sldId="270"/>
            <ac:spMk id="8" creationId="{CE2FA0A4-9D8D-09B9-E6CA-84C781A783F1}"/>
          </ac:spMkLst>
        </pc:spChg>
        <pc:spChg chg="add mod">
          <ac:chgData name="Kenton Leung" userId="c2c62abb41242476" providerId="LiveId" clId="{B229F112-46A1-4868-9D32-EEF4E500114F}" dt="2026-05-13T15:49:45.144" v="7327" actId="1076"/>
          <ac:spMkLst>
            <pc:docMk/>
            <pc:sldMk cId="2933133016" sldId="270"/>
            <ac:spMk id="14" creationId="{D9E425EA-3A44-104D-D694-5081308B0577}"/>
          </ac:spMkLst>
        </pc:spChg>
        <pc:spChg chg="mod">
          <ac:chgData name="Kenton Leung" userId="c2c62abb41242476" providerId="LiveId" clId="{B229F112-46A1-4868-9D32-EEF4E500114F}" dt="2026-05-13T15:52:49.933" v="7449" actId="20577"/>
          <ac:spMkLst>
            <pc:docMk/>
            <pc:sldMk cId="2933133016" sldId="270"/>
            <ac:spMk id="38" creationId="{74A9D941-CA0E-9DB7-B771-2C0F356D559D}"/>
          </ac:spMkLst>
        </pc:spChg>
        <pc:spChg chg="del mod">
          <ac:chgData name="Kenton Leung" userId="c2c62abb41242476" providerId="LiveId" clId="{B229F112-46A1-4868-9D32-EEF4E500114F}" dt="2026-05-12T07:34:49.419" v="6213" actId="478"/>
          <ac:spMkLst>
            <pc:docMk/>
            <pc:sldMk cId="2933133016" sldId="270"/>
            <ac:spMk id="39" creationId="{DB34F66D-46E6-388D-334B-4B164117BB92}"/>
          </ac:spMkLst>
        </pc:spChg>
        <pc:spChg chg="mod">
          <ac:chgData name="Kenton Leung" userId="c2c62abb41242476" providerId="LiveId" clId="{B229F112-46A1-4868-9D32-EEF4E500114F}" dt="2026-05-13T15:50:47.601" v="7348" actId="1076"/>
          <ac:spMkLst>
            <pc:docMk/>
            <pc:sldMk cId="2933133016" sldId="270"/>
            <ac:spMk id="42" creationId="{48970602-9A82-620E-9D1B-D88A07DD4F4E}"/>
          </ac:spMkLst>
        </pc:spChg>
        <pc:spChg chg="del">
          <ac:chgData name="Kenton Leung" userId="c2c62abb41242476" providerId="LiveId" clId="{B229F112-46A1-4868-9D32-EEF4E500114F}" dt="2026-05-12T07:34:53.693" v="6214" actId="478"/>
          <ac:spMkLst>
            <pc:docMk/>
            <pc:sldMk cId="2933133016" sldId="270"/>
            <ac:spMk id="43" creationId="{91696B06-5602-B304-0946-A8C43A393C82}"/>
          </ac:spMkLst>
        </pc:spChg>
        <pc:grpChg chg="add del mod">
          <ac:chgData name="Kenton Leung" userId="c2c62abb41242476" providerId="LiveId" clId="{B229F112-46A1-4868-9D32-EEF4E500114F}" dt="2026-05-13T11:24:14.276" v="6983" actId="478"/>
          <ac:grpSpMkLst>
            <pc:docMk/>
            <pc:sldMk cId="2933133016" sldId="270"/>
            <ac:grpSpMk id="7" creationId="{E7B9D5C9-7BC5-94BB-CCF1-3CE384C58DA3}"/>
          </ac:grpSpMkLst>
        </pc:grpChg>
        <pc:grpChg chg="add mod">
          <ac:chgData name="Kenton Leung" userId="c2c62abb41242476" providerId="LiveId" clId="{B229F112-46A1-4868-9D32-EEF4E500114F}" dt="2026-05-13T15:49:45.144" v="7327" actId="1076"/>
          <ac:grpSpMkLst>
            <pc:docMk/>
            <pc:sldMk cId="2933133016" sldId="270"/>
            <ac:grpSpMk id="11" creationId="{6353BADC-BB9D-599E-6A99-F8A92927306C}"/>
          </ac:grpSpMkLst>
        </pc:grpChg>
        <pc:picChg chg="add mod">
          <ac:chgData name="Kenton Leung" userId="c2c62abb41242476" providerId="LiveId" clId="{B229F112-46A1-4868-9D32-EEF4E500114F}" dt="2026-05-12T21:51:31.479" v="6916" actId="164"/>
          <ac:picMkLst>
            <pc:docMk/>
            <pc:sldMk cId="2933133016" sldId="270"/>
            <ac:picMk id="4" creationId="{71D3094A-D421-2DA2-1969-0F593E941E8C}"/>
          </ac:picMkLst>
        </pc:picChg>
        <pc:picChg chg="add mod">
          <ac:chgData name="Kenton Leung" userId="c2c62abb41242476" providerId="LiveId" clId="{B229F112-46A1-4868-9D32-EEF4E500114F}" dt="2026-05-13T11:25:17.145" v="6997" actId="164"/>
          <ac:picMkLst>
            <pc:docMk/>
            <pc:sldMk cId="2933133016" sldId="270"/>
            <ac:picMk id="5" creationId="{717C95A5-83FA-EA73-384D-28D8CF2DB798}"/>
          </ac:picMkLst>
        </pc:picChg>
        <pc:picChg chg="add mod">
          <ac:chgData name="Kenton Leung" userId="c2c62abb41242476" providerId="LiveId" clId="{B229F112-46A1-4868-9D32-EEF4E500114F}" dt="2026-05-12T21:51:31.479" v="6916" actId="164"/>
          <ac:picMkLst>
            <pc:docMk/>
            <pc:sldMk cId="2933133016" sldId="270"/>
            <ac:picMk id="6" creationId="{EC1804DB-2985-A302-7B05-E195934BB8A0}"/>
          </ac:picMkLst>
        </pc:picChg>
        <pc:picChg chg="add mod">
          <ac:chgData name="Kenton Leung" userId="c2c62abb41242476" providerId="LiveId" clId="{B229F112-46A1-4868-9D32-EEF4E500114F}" dt="2026-05-13T11:25:17.145" v="6997" actId="164"/>
          <ac:picMkLst>
            <pc:docMk/>
            <pc:sldMk cId="2933133016" sldId="270"/>
            <ac:picMk id="10" creationId="{34BBCB03-49F5-CC06-A91A-9B9F9A2716E0}"/>
          </ac:picMkLst>
        </pc:picChg>
        <pc:picChg chg="add mod modCrop">
          <ac:chgData name="Kenton Leung" userId="c2c62abb41242476" providerId="LiveId" clId="{B229F112-46A1-4868-9D32-EEF4E500114F}" dt="2026-05-13T15:51:18.114" v="7356" actId="1076"/>
          <ac:picMkLst>
            <pc:docMk/>
            <pc:sldMk cId="2933133016" sldId="270"/>
            <ac:picMk id="13" creationId="{FB875243-8E74-D15C-6F04-8CECBA64C860}"/>
          </ac:picMkLst>
        </pc:picChg>
        <pc:picChg chg="add mod">
          <ac:chgData name="Kenton Leung" userId="c2c62abb41242476" providerId="LiveId" clId="{B229F112-46A1-4868-9D32-EEF4E500114F}" dt="2026-05-13T15:51:14.229" v="7355" actId="1076"/>
          <ac:picMkLst>
            <pc:docMk/>
            <pc:sldMk cId="2933133016" sldId="270"/>
            <ac:picMk id="1026" creationId="{B6D41A37-29D9-9978-093D-16093ABBD1FC}"/>
          </ac:picMkLst>
        </pc:picChg>
        <pc:picChg chg="add mod">
          <ac:chgData name="Kenton Leung" userId="c2c62abb41242476" providerId="LiveId" clId="{B229F112-46A1-4868-9D32-EEF4E500114F}" dt="2026-05-13T15:51:18.114" v="7356" actId="1076"/>
          <ac:picMkLst>
            <pc:docMk/>
            <pc:sldMk cId="2933133016" sldId="270"/>
            <ac:picMk id="1028" creationId="{E68CED94-E039-624D-6639-37A2FC0BAF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0091-4F44-453D-BF2F-D238B942785C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B94AEB-1E4D-4F92-98C6-3808E7DBC6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307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94AEB-1E4D-4F92-98C6-3808E7DBC6B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039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8DC92-9AD7-4D75-732F-C9F5DF948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C66BD-F7D5-689D-E4E7-2027C2E8E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DA1A7-77F9-4CAF-7D14-B67977449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E96AF-D1A1-F6FB-0A66-1D5DAE15D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94AEB-1E4D-4F92-98C6-3808E7DBC6B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916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E705-2081-EE38-CCC0-479E1462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801C1-4AE6-FFBC-9032-D7C1735FB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72088-E687-7500-E005-82F83A27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4B33-7877-46B3-B51B-481FAD97554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B0FC-D6DE-7E94-4C67-94B54985C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9BD26-8A9D-06F3-3B6B-2EA09B118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42AE-BA63-440E-BC8E-FB3AB02D1B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21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2DB00-37F0-2A2E-1DE3-1823C16A5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D12A5-EF70-A3A9-ECA4-86EA7DC3F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8DA45-5910-6096-7182-979AA94F9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4B33-7877-46B3-B51B-481FAD97554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F662A-C434-4CAF-A797-9781BE781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E6DDA-6C37-DCA0-E2FD-006C447F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42AE-BA63-440E-BC8E-FB3AB02D1B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45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BF84-9F38-E409-F33E-C70153C8D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18A4C-AFCF-5F0A-1A6C-919A0C7DD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CF1F1-AD15-1289-2BFA-5E3F8527F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4B33-7877-46B3-B51B-481FAD97554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BDBF7-6194-D429-52B8-17529AC2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AB37E-B784-B3E2-9EF6-D18D86EA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42AE-BA63-440E-BC8E-FB3AB02D1B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15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BF93D-041D-5012-F96A-48A3AC3C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EE34E-5AF5-6A01-1AE5-A39CEC7D4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7DF91-DA46-8781-490D-93F72FFF3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9ACA1-D888-1EF6-7412-978CA8382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4B33-7877-46B3-B51B-481FAD97554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8A2AB-55AE-A919-DF0D-FDB9ACA4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783B3-D7AB-ECEF-453C-D76EF82D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42AE-BA63-440E-BC8E-FB3AB02D1B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76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0E1E-D38D-31DE-5921-78BE104B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D5844-0778-15B5-DC8B-621D2235F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B7F6E-8EDE-6304-C132-4D9C5F9F8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CCF2B5-77D8-05B5-08D2-D46E209D6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90B25D-01C2-B42D-228F-FCC976FB90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CCA605-AED8-EC04-132B-76243FC2D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4B33-7877-46B3-B51B-481FAD97554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3DB94-A594-C411-186D-A9F718D38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09889-2487-5BAA-8A25-61920A64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42AE-BA63-440E-BC8E-FB3AB02D1B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802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F9F5-D63A-DDF5-6ED6-4B65EEC29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760B8C-C0A5-74DC-2614-B6771B12C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4B33-7877-46B3-B51B-481FAD97554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F0C59-4BD3-B04E-8ECA-C2E5869EB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12D0E-A1FF-140F-FDD3-ACF43FE1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42AE-BA63-440E-BC8E-FB3AB02D1B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425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A8DD6F-B66C-57A9-4237-30BB31624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4B33-7877-46B3-B51B-481FAD97554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B5E92D-1FF7-D878-A634-246FC3F36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6B0B-5220-1EB7-22BB-F0FCA19E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42AE-BA63-440E-BC8E-FB3AB02D1B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19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539E-EE4E-8E00-F3FC-28A0717E6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C90E1-11BF-98C3-F5A1-A531D86F5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50B36-AAD5-839F-31F8-D6ACE3DA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6DA99-7BC2-77B8-BB67-062895EC6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4B33-7877-46B3-B51B-481FAD97554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DB2A0-09BC-6727-E424-FC16A9299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4AC88-AAA4-8BBB-AC85-7406CC39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42AE-BA63-440E-BC8E-FB3AB02D1B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527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B5B1-7521-0915-7964-D47BD7A9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975FFD-ADAD-FD29-C24F-BFE8D71ED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368E7-1767-E81B-3642-258649D9E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14E0C-4C7B-754C-B93C-76017BC5A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4B33-7877-46B3-B51B-481FAD97554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0910B-6D3A-F20B-C762-2F41096C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9748E-CCE7-C0E3-3306-72B2256A3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42AE-BA63-440E-BC8E-FB3AB02D1B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147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A77D2-DFAB-9CB9-24E0-E165FDD8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8A099-E908-0F08-396F-F08D5A7C5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09C7A-1767-A855-E9EA-BD460534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4B33-7877-46B3-B51B-481FAD97554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C7199-7E35-188D-B993-B60E191EC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4836B-550C-5828-5117-20FBC4DCF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42AE-BA63-440E-BC8E-FB3AB02D1B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29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289F59-69A0-4770-91CB-84CF6F650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34468-BF3E-176A-A000-F266455B2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C1EBA-CC66-50C5-7D63-DC543474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4B33-7877-46B3-B51B-481FAD97554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142FD-0958-2E69-26F7-A37E1AE6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55AE7-04B5-0BFE-A459-752046E77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042AE-BA63-440E-BC8E-FB3AB02D1B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150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9A026B-F62B-C18E-0201-481F0AC18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B2644-823C-3064-2376-F425B95D6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58FFE-1E1F-C7E7-1090-E05BBBEFC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84B33-7877-46B3-B51B-481FAD975545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135A7-E0E2-B7AD-6026-7E64D9C57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D94C1-DEDF-F2B4-F5AF-8866473CA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042AE-BA63-440E-BC8E-FB3AB02D1B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578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hyperlink" Target="https://www.unlimit-hosting.com/" TargetMode="External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www.unlimit-hosting.com/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hyperlink" Target="https://github.com/kentonleung/Low-cost-Smart-Insol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11" Type="http://schemas.openxmlformats.org/officeDocument/2006/relationships/image" Target="../media/image25.jpg"/><Relationship Id="rId5" Type="http://schemas.openxmlformats.org/officeDocument/2006/relationships/image" Target="../media/image19.jp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png"/><Relationship Id="rId4" Type="http://schemas.openxmlformats.org/officeDocument/2006/relationships/image" Target="../media/image2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github.com/kentonleung/Knee-Sleev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github.com/Lucas-G-Xu/Applied-Medical-Robotics-Group-8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2E372F-43E0-22A7-C156-1CE03B6AB3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5" t="714" r="565" b="803"/>
          <a:stretch>
            <a:fillRect/>
          </a:stretch>
        </p:blipFill>
        <p:spPr>
          <a:xfrm>
            <a:off x="6635651" y="1170725"/>
            <a:ext cx="4410937" cy="20328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73BCF-FD7A-49AB-0F53-1B41C444E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6000"/>
          </a:xfrm>
        </p:spPr>
        <p:txBody>
          <a:bodyPr>
            <a:normAutofit/>
          </a:bodyPr>
          <a:lstStyle/>
          <a:p>
            <a:r>
              <a:rPr lang="en-US" sz="2800" dirty="0"/>
              <a:t>Full stack web development – revamp of a 2-decade old web hosting services provider website </a:t>
            </a:r>
            <a:r>
              <a:rPr lang="en-US" sz="2800" dirty="0">
                <a:hlinkClick r:id="rId4"/>
              </a:rPr>
              <a:t>https://www.unlimit-hosting.com/</a:t>
            </a:r>
            <a:r>
              <a:rPr lang="en-US" sz="2800" dirty="0"/>
              <a:t>  </a:t>
            </a:r>
            <a:endParaRPr lang="en-GB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816D02-8DA2-5FCD-AB2D-5BEB6F57EF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28"/>
          <a:stretch>
            <a:fillRect/>
          </a:stretch>
        </p:blipFill>
        <p:spPr>
          <a:xfrm>
            <a:off x="2422050" y="1173480"/>
            <a:ext cx="1837890" cy="25721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F7A95F-0E0F-580F-855E-BDC5F5048D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" y="3745674"/>
            <a:ext cx="4250362" cy="22139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48B4FD-0899-EA8E-6662-78F903B7EE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" t="416" r="56941"/>
          <a:stretch>
            <a:fillRect/>
          </a:stretch>
        </p:blipFill>
        <p:spPr>
          <a:xfrm>
            <a:off x="0" y="1173481"/>
            <a:ext cx="2403925" cy="25721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9D81D7E-92EC-4E5A-E3A2-A412F6F542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7110" y="3265976"/>
            <a:ext cx="2150026" cy="32383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C9F874-007E-368A-780E-98DB87EAEA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951" y="3265976"/>
            <a:ext cx="2145777" cy="353810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F262BA7-E0E3-DA00-D64D-0D5DC3BFE24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606" t="907" r="1501" b="14409"/>
          <a:stretch>
            <a:fillRect/>
          </a:stretch>
        </p:blipFill>
        <p:spPr>
          <a:xfrm>
            <a:off x="11056467" y="2428316"/>
            <a:ext cx="1066624" cy="14630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6929409-DEA7-B948-9E2E-EF6A55D0EE64}"/>
              </a:ext>
            </a:extLst>
          </p:cNvPr>
          <p:cNvSpPr txBox="1"/>
          <p:nvPr/>
        </p:nvSpPr>
        <p:spPr>
          <a:xfrm>
            <a:off x="1557907" y="6522272"/>
            <a:ext cx="103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636343-EB37-B48F-18CC-EDBD5F72EA86}"/>
              </a:ext>
            </a:extLst>
          </p:cNvPr>
          <p:cNvSpPr txBox="1"/>
          <p:nvPr/>
        </p:nvSpPr>
        <p:spPr>
          <a:xfrm>
            <a:off x="8718728" y="6488668"/>
            <a:ext cx="84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AFTER</a:t>
            </a:r>
            <a:endParaRPr lang="en-GB" b="1" dirty="0">
              <a:solidFill>
                <a:srgbClr val="92D05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744034-44A4-33E7-2F1F-CB76B485F2EB}"/>
              </a:ext>
            </a:extLst>
          </p:cNvPr>
          <p:cNvSpPr txBox="1"/>
          <p:nvPr/>
        </p:nvSpPr>
        <p:spPr>
          <a:xfrm>
            <a:off x="11046588" y="1325568"/>
            <a:ext cx="9927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AI Chatbot and domain name generator via Groq RESTful API using </a:t>
            </a:r>
            <a:r>
              <a:rPr lang="es-ES" sz="800" b="1" dirty="0"/>
              <a:t>meta llama 3.1 70b versatile LLM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F11CE12A-EE0B-92E5-CAB8-621F1D7EECF2}"/>
              </a:ext>
            </a:extLst>
          </p:cNvPr>
          <p:cNvSpPr/>
          <p:nvPr/>
        </p:nvSpPr>
        <p:spPr>
          <a:xfrm>
            <a:off x="4382853" y="3003336"/>
            <a:ext cx="1205546" cy="851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0FECD52-F3EF-C358-5193-A59AAC7058D8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9842090" y="1802622"/>
            <a:ext cx="1204498" cy="56910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D92F97-6EB6-9C7D-47E2-E89A9A791D08}"/>
              </a:ext>
            </a:extLst>
          </p:cNvPr>
          <p:cNvCxnSpPr>
            <a:cxnSpLocks/>
            <a:stCxn id="29" idx="2"/>
            <a:endCxn id="26" idx="0"/>
          </p:cNvCxnSpPr>
          <p:nvPr/>
        </p:nvCxnSpPr>
        <p:spPr>
          <a:xfrm>
            <a:off x="11542985" y="2279675"/>
            <a:ext cx="46794" cy="14864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4F6779A-45A2-F219-7A56-A0F8C64A8BCC}"/>
              </a:ext>
            </a:extLst>
          </p:cNvPr>
          <p:cNvSpPr txBox="1"/>
          <p:nvPr/>
        </p:nvSpPr>
        <p:spPr>
          <a:xfrm>
            <a:off x="5460545" y="1139876"/>
            <a:ext cx="10642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Redesign of company logo, website layout, landing page</a:t>
            </a:r>
            <a:endParaRPr lang="en-GB" sz="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2AA461-4FA5-DD3B-F722-DA609BD0A57A}"/>
              </a:ext>
            </a:extLst>
          </p:cNvPr>
          <p:cNvSpPr txBox="1"/>
          <p:nvPr/>
        </p:nvSpPr>
        <p:spPr>
          <a:xfrm>
            <a:off x="10997136" y="4234248"/>
            <a:ext cx="11852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Implement modern domain availability search function using DomScan RESTful API that searches through RDAP, WHOIS, DNS, HTTP/S, SSL/TLS protocols</a:t>
            </a:r>
          </a:p>
          <a:p>
            <a:endParaRPr lang="en-US" sz="800" b="1" dirty="0"/>
          </a:p>
          <a:p>
            <a:endParaRPr lang="en-GB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AAD0AF-8B37-723B-57D1-97644F0EEE0F}"/>
              </a:ext>
            </a:extLst>
          </p:cNvPr>
          <p:cNvSpPr txBox="1"/>
          <p:nvPr/>
        </p:nvSpPr>
        <p:spPr>
          <a:xfrm>
            <a:off x="5619050" y="4157867"/>
            <a:ext cx="10642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Redesign of tiered service plans with bundle and add-ons logic</a:t>
            </a:r>
            <a:endParaRPr lang="en-GB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6BB8C2-A203-842F-5415-C5E14BDE1B63}"/>
              </a:ext>
            </a:extLst>
          </p:cNvPr>
          <p:cNvSpPr txBox="1"/>
          <p:nvPr/>
        </p:nvSpPr>
        <p:spPr>
          <a:xfrm>
            <a:off x="5846126" y="5311697"/>
            <a:ext cx="829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Removal of obsolete services</a:t>
            </a:r>
            <a:endParaRPr lang="en-GB" sz="8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74028A-23AF-1FC2-7272-BB7CA4DDF72C}"/>
              </a:ext>
            </a:extLst>
          </p:cNvPr>
          <p:cNvSpPr txBox="1"/>
          <p:nvPr/>
        </p:nvSpPr>
        <p:spPr>
          <a:xfrm>
            <a:off x="-28279" y="5953889"/>
            <a:ext cx="1064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Domain availability ran on outdated manual WHOIS database scraper</a:t>
            </a:r>
            <a:endParaRPr lang="en-GB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3D6D77-EF1C-459D-BF56-2DD3ED5B0790}"/>
              </a:ext>
            </a:extLst>
          </p:cNvPr>
          <p:cNvSpPr txBox="1"/>
          <p:nvPr/>
        </p:nvSpPr>
        <p:spPr>
          <a:xfrm>
            <a:off x="4224211" y="1301782"/>
            <a:ext cx="10642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Plans and feature tables were cluttered and outdated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6C90DC-50D2-5049-6BE4-1879C880604B}"/>
              </a:ext>
            </a:extLst>
          </p:cNvPr>
          <p:cNvSpPr txBox="1"/>
          <p:nvPr/>
        </p:nvSpPr>
        <p:spPr>
          <a:xfrm>
            <a:off x="9578" y="2805893"/>
            <a:ext cx="1064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Home page ran on retired plugins and had a lot of clutter and negative space</a:t>
            </a:r>
            <a:endParaRPr lang="en-GB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E82E6E-76CC-EF16-868C-3F6551FD9D2A}"/>
              </a:ext>
            </a:extLst>
          </p:cNvPr>
          <p:cNvSpPr txBox="1"/>
          <p:nvPr/>
        </p:nvSpPr>
        <p:spPr>
          <a:xfrm>
            <a:off x="9036108" y="958036"/>
            <a:ext cx="9927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Bilingual set up</a:t>
            </a:r>
            <a:endParaRPr lang="en-GB" sz="800" b="1" dirty="0"/>
          </a:p>
        </p:txBody>
      </p:sp>
    </p:spTree>
    <p:extLst>
      <p:ext uri="{BB962C8B-B14F-4D97-AF65-F5344CB8AC3E}">
        <p14:creationId xmlns:p14="http://schemas.microsoft.com/office/powerpoint/2010/main" val="3181342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A01A4-B645-DC6C-B1E2-1F4671834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CDDDB-5F62-1E21-FAB9-9DF7CB30C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16000"/>
          </a:xfrm>
        </p:spPr>
        <p:txBody>
          <a:bodyPr>
            <a:normAutofit/>
          </a:bodyPr>
          <a:lstStyle/>
          <a:p>
            <a:r>
              <a:rPr lang="en-US" sz="3200" dirty="0"/>
              <a:t>Full stack web development – revamp of a 2-decade old web hosting services provider website </a:t>
            </a:r>
            <a:r>
              <a:rPr lang="en-US" sz="3200" dirty="0">
                <a:hlinkClick r:id="rId3"/>
              </a:rPr>
              <a:t>https://www.unlimit-hosting.com/</a:t>
            </a:r>
            <a:r>
              <a:rPr lang="en-US" sz="3200" dirty="0"/>
              <a:t> </a:t>
            </a:r>
            <a:endParaRPr lang="en-GB" sz="3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A9D941-CA0E-9DB7-B771-2C0F356D559D}"/>
              </a:ext>
            </a:extLst>
          </p:cNvPr>
          <p:cNvSpPr txBox="1"/>
          <p:nvPr/>
        </p:nvSpPr>
        <p:spPr>
          <a:xfrm>
            <a:off x="596857" y="1063957"/>
            <a:ext cx="4181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Performance Optimization</a:t>
            </a:r>
            <a:endParaRPr lang="en-US" sz="800" b="1" dirty="0"/>
          </a:p>
          <a:p>
            <a:r>
              <a:rPr lang="en-US" sz="800" b="1" dirty="0"/>
              <a:t>Update PHP v7 to 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970602-9A82-620E-9D1B-D88A07DD4F4E}"/>
              </a:ext>
            </a:extLst>
          </p:cNvPr>
          <p:cNvSpPr txBox="1"/>
          <p:nvPr/>
        </p:nvSpPr>
        <p:spPr>
          <a:xfrm>
            <a:off x="6841373" y="1721470"/>
            <a:ext cx="382505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Security implementations</a:t>
            </a:r>
          </a:p>
          <a:p>
            <a:endParaRPr lang="en-US" sz="800" b="1" dirty="0"/>
          </a:p>
          <a:p>
            <a:r>
              <a:rPr lang="en-US" sz="800" b="1" dirty="0"/>
              <a:t>Cloudflare Turnstile Captcha</a:t>
            </a:r>
          </a:p>
          <a:p>
            <a:endParaRPr lang="en-US" sz="800" b="1" dirty="0"/>
          </a:p>
          <a:p>
            <a:r>
              <a:rPr lang="en-US" sz="800" b="1" dirty="0"/>
              <a:t>Cloudflare DNS Proxy</a:t>
            </a:r>
          </a:p>
          <a:p>
            <a:endParaRPr lang="en-US" sz="800" b="1" dirty="0"/>
          </a:p>
          <a:p>
            <a:r>
              <a:rPr lang="en-US" sz="800" b="1" dirty="0"/>
              <a:t>Honeypots in forms</a:t>
            </a:r>
          </a:p>
          <a:p>
            <a:endParaRPr lang="en-US" sz="800" b="1" dirty="0"/>
          </a:p>
          <a:p>
            <a:r>
              <a:rPr lang="en-US" sz="800" b="1" dirty="0"/>
              <a:t>Block generic bots</a:t>
            </a:r>
          </a:p>
          <a:p>
            <a:endParaRPr lang="en-US" sz="800" b="1" dirty="0"/>
          </a:p>
          <a:p>
            <a:r>
              <a:rPr lang="en-US" sz="800" b="1" dirty="0"/>
              <a:t>ROT13 encryption of customer support email</a:t>
            </a:r>
          </a:p>
          <a:p>
            <a:endParaRPr lang="en-US" sz="800" b="1" dirty="0"/>
          </a:p>
          <a:p>
            <a:r>
              <a:rPr lang="en-US" sz="800" b="1" dirty="0"/>
              <a:t>API rate limiting to prevent abuse</a:t>
            </a:r>
            <a:endParaRPr lang="en-GB" sz="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FA0A4-9D8D-09B9-E6CA-84C781A783F1}"/>
              </a:ext>
            </a:extLst>
          </p:cNvPr>
          <p:cNvSpPr txBox="1"/>
          <p:nvPr/>
        </p:nvSpPr>
        <p:spPr>
          <a:xfrm>
            <a:off x="7165257" y="4763790"/>
            <a:ext cx="9930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Updated TLS version and ciphers, implemented HSTS, bumping Qualys SSL Labs rating from B to A+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53BADC-BB9D-599E-6A99-F8A92927306C}"/>
              </a:ext>
            </a:extLst>
          </p:cNvPr>
          <p:cNvGrpSpPr/>
          <p:nvPr/>
        </p:nvGrpSpPr>
        <p:grpSpPr>
          <a:xfrm>
            <a:off x="517216" y="2373798"/>
            <a:ext cx="3992880" cy="4484203"/>
            <a:chOff x="181008" y="2110398"/>
            <a:chExt cx="4715457" cy="52022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17C95A5-83FA-EA73-384D-28D8CF2DB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1008" y="2110398"/>
              <a:ext cx="4715457" cy="284256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4BBCB03-49F5-CC06-A91A-9B9F9A271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1008" y="4952966"/>
              <a:ext cx="4715456" cy="2359684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B875243-8E74-D15C-6F04-8CECBA64C8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711" t="14116" r="8277" b="44299"/>
          <a:stretch>
            <a:fillRect/>
          </a:stretch>
        </p:blipFill>
        <p:spPr>
          <a:xfrm>
            <a:off x="8502974" y="4723627"/>
            <a:ext cx="3093720" cy="8915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E425EA-3A44-104D-D694-5081308B0577}"/>
              </a:ext>
            </a:extLst>
          </p:cNvPr>
          <p:cNvSpPr txBox="1"/>
          <p:nvPr/>
        </p:nvSpPr>
        <p:spPr>
          <a:xfrm>
            <a:off x="4510095" y="4237043"/>
            <a:ext cx="9930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Website audit: Green across all categories on mobile and desktop on Google Lighthouse </a:t>
            </a:r>
            <a:endParaRPr lang="en-GB" sz="800" b="1" dirty="0"/>
          </a:p>
        </p:txBody>
      </p:sp>
      <p:pic>
        <p:nvPicPr>
          <p:cNvPr id="1026" name="Picture 2" descr="Six years old and time for an update: CloudFlare becomes Cloudflare">
            <a:extLst>
              <a:ext uri="{FF2B5EF4-FFF2-40B4-BE49-F238E27FC236}">
                <a16:creationId xmlns:a16="http://schemas.microsoft.com/office/drawing/2014/main" id="{B6D41A37-29D9-9978-093D-16093ABBD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9554" y="1962814"/>
            <a:ext cx="2659625" cy="79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lys SSL Labs">
            <a:extLst>
              <a:ext uri="{FF2B5EF4-FFF2-40B4-BE49-F238E27FC236}">
                <a16:creationId xmlns:a16="http://schemas.microsoft.com/office/drawing/2014/main" id="{E68CED94-E039-624D-6639-37A2FC0BA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8270" y="4334529"/>
            <a:ext cx="1983128" cy="320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3133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FB21-1BB6-26C1-A039-8BE6142B5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374"/>
            <a:ext cx="12192000" cy="675257"/>
          </a:xfrm>
        </p:spPr>
        <p:txBody>
          <a:bodyPr>
            <a:normAutofit/>
          </a:bodyPr>
          <a:lstStyle/>
          <a:p>
            <a:r>
              <a:rPr lang="en-GB" sz="4000" dirty="0"/>
              <a:t>Image-guided Navigation Simulation for Surgical Robotics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379D6-DA3F-C274-617F-2F8C5F3EA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00167"/>
            <a:ext cx="6263148" cy="90954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The objective of the project is to develop an end-to-end pipeline, creating a simulation that insert an electrode located at the end effector of a robotic arm, through a straight trajectory in the brain to target the hippocampus for recording temporal lobe epilepsy. This is all done while adhering to some constraints to ensure the safety of the patient.</a:t>
            </a:r>
          </a:p>
        </p:txBody>
      </p:sp>
      <p:pic>
        <p:nvPicPr>
          <p:cNvPr id="5" name="Picture 4" descr="A diagram of a bridge&#10;&#10;AI-generated content may be incorrect.">
            <a:extLst>
              <a:ext uri="{FF2B5EF4-FFF2-40B4-BE49-F238E27FC236}">
                <a16:creationId xmlns:a16="http://schemas.microsoft.com/office/drawing/2014/main" id="{C0A2EFF6-07A6-EADB-8EB1-65EC1C8B2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84" y="1509714"/>
            <a:ext cx="4244195" cy="233379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BDBC3D-7667-0DBA-C790-AE713A081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60765"/>
            <a:ext cx="5535561" cy="1923108"/>
          </a:xfrm>
          <a:prstGeom prst="rect">
            <a:avLst/>
          </a:prstGeom>
        </p:spPr>
      </p:pic>
      <p:pic>
        <p:nvPicPr>
          <p:cNvPr id="9" name="Picture 8" descr="A close-up of a brain&#10;&#10;AI-generated content may be incorrect.">
            <a:extLst>
              <a:ext uri="{FF2B5EF4-FFF2-40B4-BE49-F238E27FC236}">
                <a16:creationId xmlns:a16="http://schemas.microsoft.com/office/drawing/2014/main" id="{1D8099A9-E527-B94A-B47F-DF568EF50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374" y="3195121"/>
            <a:ext cx="4945626" cy="3021777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49E5B1-E22C-073C-E4D9-AC7C99322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4367" y="706000"/>
            <a:ext cx="2937633" cy="20282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33B854-FBAC-5075-89F9-346D4B6EA816}"/>
              </a:ext>
            </a:extLst>
          </p:cNvPr>
          <p:cNvSpPr txBox="1"/>
          <p:nvPr/>
        </p:nvSpPr>
        <p:spPr>
          <a:xfrm>
            <a:off x="-14748" y="3843505"/>
            <a:ext cx="62778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methodology to develop the simulated IGNR system is divided into four components, path planning in 3D Slicer, </a:t>
            </a:r>
            <a:r>
              <a:rPr lang="en-GB" dirty="0" err="1"/>
              <a:t>OpenIGTLink</a:t>
            </a:r>
            <a:r>
              <a:rPr lang="en-GB" dirty="0"/>
              <a:t> for data transfer from 3D Slicer to ROS2, ROS2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C1DCCD-6F7C-EDBE-5E3F-355BB76F243B}"/>
              </a:ext>
            </a:extLst>
          </p:cNvPr>
          <p:cNvSpPr txBox="1"/>
          <p:nvPr/>
        </p:nvSpPr>
        <p:spPr>
          <a:xfrm>
            <a:off x="6179574" y="517465"/>
            <a:ext cx="31583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Some hard constraints are that the electrode must target the hippocampus, cannot penetrate ventricles to prevent cerebrospinal fluid leakage, cannot hit blood vessels to prevent </a:t>
            </a:r>
            <a:r>
              <a:rPr lang="en-GB" sz="1400" dirty="0" err="1"/>
              <a:t>hemorrhage</a:t>
            </a:r>
            <a:r>
              <a:rPr lang="en-GB" sz="1400" dirty="0"/>
              <a:t>, and it must be somewhat perpendicular to the cortex with at least a 55 degrees angle to prevent deflection. A soft constraint is to maximize the minimum distance of the electrode from ventricles &amp; vessels to reduce risk.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4A0310-CF2B-6AAE-8FF6-DD3E5C792E3F}"/>
              </a:ext>
            </a:extLst>
          </p:cNvPr>
          <p:cNvSpPr txBox="1"/>
          <p:nvPr/>
        </p:nvSpPr>
        <p:spPr>
          <a:xfrm>
            <a:off x="5914104" y="6205920"/>
            <a:ext cx="6277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Results: Best trajectory calculated, visualized and validated against constraints..</a:t>
            </a:r>
          </a:p>
        </p:txBody>
      </p:sp>
    </p:spTree>
    <p:extLst>
      <p:ext uri="{BB962C8B-B14F-4D97-AF65-F5344CB8AC3E}">
        <p14:creationId xmlns:p14="http://schemas.microsoft.com/office/powerpoint/2010/main" val="2897413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385D-F0D2-F6FF-54CD-3B7115B01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37" y="3065"/>
            <a:ext cx="12221708" cy="1206995"/>
          </a:xfrm>
        </p:spPr>
        <p:txBody>
          <a:bodyPr>
            <a:normAutofit fontScale="90000"/>
          </a:bodyPr>
          <a:lstStyle/>
          <a:p>
            <a:r>
              <a:rPr lang="en-GB" dirty="0"/>
              <a:t>Low-cost smart insole for monitoring and classifying physical activity </a:t>
            </a:r>
            <a:r>
              <a:rPr lang="en-GB" sz="2000" dirty="0" err="1">
                <a:hlinkClick r:id="rId2"/>
              </a:rPr>
              <a:t>kentonleung</a:t>
            </a:r>
            <a:r>
              <a:rPr lang="en-GB" sz="2000" dirty="0">
                <a:hlinkClick r:id="rId2"/>
              </a:rPr>
              <a:t>/Low-cost-Smart-Insole: This repository will contain files to run the insole.</a:t>
            </a:r>
            <a:endParaRPr lang="en-GB" sz="2000" dirty="0"/>
          </a:p>
        </p:txBody>
      </p:sp>
      <p:pic>
        <p:nvPicPr>
          <p:cNvPr id="4" name="Picture 3" descr="A low poly object on a grid&#10;&#10;AI-generated content may be incorrect.">
            <a:extLst>
              <a:ext uri="{FF2B5EF4-FFF2-40B4-BE49-F238E27FC236}">
                <a16:creationId xmlns:a16="http://schemas.microsoft.com/office/drawing/2014/main" id="{2529CB02-41E3-BF55-370D-156FECF84F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3" y="1471796"/>
            <a:ext cx="2050903" cy="1242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1BC809-8FF6-0E71-0E26-1EDDFD7F20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3" y="2967614"/>
            <a:ext cx="2046958" cy="790601"/>
          </a:xfrm>
          <a:prstGeom prst="rect">
            <a:avLst/>
          </a:prstGeom>
        </p:spPr>
      </p:pic>
      <p:pic>
        <p:nvPicPr>
          <p:cNvPr id="6" name="Picture 5" descr="A pair of orthopedic insoles&#10;&#10;AI-generated content may be incorrect.">
            <a:extLst>
              <a:ext uri="{FF2B5EF4-FFF2-40B4-BE49-F238E27FC236}">
                <a16:creationId xmlns:a16="http://schemas.microsoft.com/office/drawing/2014/main" id="{98FA9706-1C86-82B6-F534-4D7D55FC23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34" t="5982" r="14262" b="5341"/>
          <a:stretch>
            <a:fillRect/>
          </a:stretch>
        </p:blipFill>
        <p:spPr>
          <a:xfrm>
            <a:off x="4902099" y="1584883"/>
            <a:ext cx="2046958" cy="2123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F08E1A-C91A-50F6-9EAD-55E72974E5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3" y="3915855"/>
            <a:ext cx="2398343" cy="14761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094528-2010-955C-4562-CAF7C8DA6B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548" y="1471796"/>
            <a:ext cx="1945088" cy="1290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BD4197-3CD1-7BCD-3F29-A48C735B5E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995610" y="1895267"/>
            <a:ext cx="1015937" cy="2856456"/>
          </a:xfrm>
          <a:prstGeom prst="rect">
            <a:avLst/>
          </a:prstGeom>
        </p:spPr>
      </p:pic>
      <p:pic>
        <p:nvPicPr>
          <p:cNvPr id="10" name="Picture 9" descr="A close-up of a shoe sole&#10;&#10;AI-generated content may be incorrect.">
            <a:extLst>
              <a:ext uri="{FF2B5EF4-FFF2-40B4-BE49-F238E27FC236}">
                <a16:creationId xmlns:a16="http://schemas.microsoft.com/office/drawing/2014/main" id="{8079BBA6-F465-341E-A192-EBB4A4F13E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9" t="5769" r="10096" b="3632"/>
          <a:stretch>
            <a:fillRect/>
          </a:stretch>
        </p:blipFill>
        <p:spPr>
          <a:xfrm>
            <a:off x="9101785" y="1677411"/>
            <a:ext cx="2772122" cy="28811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8EA08A-BA08-2F79-428E-B67AD8C46C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333" y="4927933"/>
            <a:ext cx="3144410" cy="15929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10702B-879C-19DB-FFCC-5ED3107000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152" y="3999946"/>
            <a:ext cx="3498970" cy="13569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B4E1B5-1017-DF2A-0036-100C3FD31F8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30" y="5866292"/>
            <a:ext cx="5943600" cy="82867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222E4AB-AAF2-427F-D6D9-F15CC46E021A}"/>
              </a:ext>
            </a:extLst>
          </p:cNvPr>
          <p:cNvSpPr txBox="1"/>
          <p:nvPr/>
        </p:nvSpPr>
        <p:spPr>
          <a:xfrm>
            <a:off x="0" y="1096678"/>
            <a:ext cx="5546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Early iterations and 3D printed TPU prototype, too stiff.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91D267-D14C-FAE0-6D32-F76C628D8CE8}"/>
              </a:ext>
            </a:extLst>
          </p:cNvPr>
          <p:cNvSpPr txBox="1"/>
          <p:nvPr/>
        </p:nvSpPr>
        <p:spPr>
          <a:xfrm>
            <a:off x="6645291" y="1045502"/>
            <a:ext cx="5665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Final iteration with manual cut outs to an existing insole</a:t>
            </a:r>
          </a:p>
          <a:p>
            <a:r>
              <a:rPr lang="en-GB" dirty="0"/>
              <a:t>as it is proven to already be somewhat comfortable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55D9CE-D3C7-D704-199F-2EB9A59FA0E3}"/>
              </a:ext>
            </a:extLst>
          </p:cNvPr>
          <p:cNvSpPr txBox="1"/>
          <p:nvPr/>
        </p:nvSpPr>
        <p:spPr>
          <a:xfrm>
            <a:off x="5333928" y="3869935"/>
            <a:ext cx="1671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Wiring diagram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2BDC2F-5D8D-687A-B6E6-C74646A0AB9F}"/>
              </a:ext>
            </a:extLst>
          </p:cNvPr>
          <p:cNvSpPr txBox="1"/>
          <p:nvPr/>
        </p:nvSpPr>
        <p:spPr>
          <a:xfrm>
            <a:off x="8829093" y="4558601"/>
            <a:ext cx="15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Compute unit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24F3A6-B45C-E542-1FED-12EE0E130930}"/>
              </a:ext>
            </a:extLst>
          </p:cNvPr>
          <p:cNvSpPr txBox="1"/>
          <p:nvPr/>
        </p:nvSpPr>
        <p:spPr>
          <a:xfrm>
            <a:off x="2235456" y="5555407"/>
            <a:ext cx="160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Block diagram</a:t>
            </a:r>
          </a:p>
        </p:txBody>
      </p:sp>
    </p:spTree>
    <p:extLst>
      <p:ext uri="{BB962C8B-B14F-4D97-AF65-F5344CB8AC3E}">
        <p14:creationId xmlns:p14="http://schemas.microsoft.com/office/powerpoint/2010/main" val="638520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F22C03-4C96-744A-FC92-52AE982D6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208" y="3014662"/>
            <a:ext cx="3903076" cy="19327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5E957C-EB0E-0B69-35E9-CDE64573B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747" y="4947435"/>
            <a:ext cx="4207253" cy="1932773"/>
          </a:xfrm>
          <a:prstGeom prst="rect">
            <a:avLst/>
          </a:prstGeom>
        </p:spPr>
      </p:pic>
      <p:pic>
        <p:nvPicPr>
          <p:cNvPr id="7" name="Picture 6" descr="A computer screen with a computer program&#10;&#10;AI-generated content may be incorrect.">
            <a:extLst>
              <a:ext uri="{FF2B5EF4-FFF2-40B4-BE49-F238E27FC236}">
                <a16:creationId xmlns:a16="http://schemas.microsoft.com/office/drawing/2014/main" id="{0466D887-4109-E938-AADF-96DC10F17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25" b="11224"/>
          <a:stretch>
            <a:fillRect/>
          </a:stretch>
        </p:blipFill>
        <p:spPr>
          <a:xfrm>
            <a:off x="462399" y="1449528"/>
            <a:ext cx="3247390" cy="292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FF869A-4F96-E2B8-0AF7-09253D7441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84"/>
          <a:stretch>
            <a:fillRect/>
          </a:stretch>
        </p:blipFill>
        <p:spPr>
          <a:xfrm>
            <a:off x="195139" y="5751655"/>
            <a:ext cx="4126271" cy="11285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E04A31-C4B3-303B-7EEA-96C59A38549B}"/>
              </a:ext>
            </a:extLst>
          </p:cNvPr>
          <p:cNvSpPr txBox="1"/>
          <p:nvPr/>
        </p:nvSpPr>
        <p:spPr>
          <a:xfrm>
            <a:off x="4643884" y="482213"/>
            <a:ext cx="39759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Sensor Accuracy</a:t>
            </a:r>
          </a:p>
          <a:p>
            <a:r>
              <a:rPr lang="en-GB" dirty="0"/>
              <a:t>Compared to force plates, the system accurately detected gait events but overestimated ground contact time by 7.98% and underestimated peak forces, while maintaining consistent step-to-step trends.</a:t>
            </a:r>
          </a:p>
        </p:txBody>
      </p:sp>
      <p:pic>
        <p:nvPicPr>
          <p:cNvPr id="11" name="Picture 10" descr="A graph of 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4F994223-4DD1-59D5-1C72-B55C15E862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2890" y="0"/>
            <a:ext cx="3461056" cy="28808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8B32B8-8F45-751B-340D-B90EC0D6BA55}"/>
              </a:ext>
            </a:extLst>
          </p:cNvPr>
          <p:cNvSpPr txBox="1"/>
          <p:nvPr/>
        </p:nvSpPr>
        <p:spPr>
          <a:xfrm>
            <a:off x="4916127" y="5434262"/>
            <a:ext cx="31561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Activity classification </a:t>
            </a:r>
          </a:p>
          <a:p>
            <a:r>
              <a:rPr lang="en-GB" dirty="0"/>
              <a:t>Performance was limited, with 66.7% accuracy for stair descent.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97B470-3CF3-6D6C-E718-01AEB041A531}"/>
              </a:ext>
            </a:extLst>
          </p:cNvPr>
          <p:cNvSpPr txBox="1"/>
          <p:nvPr/>
        </p:nvSpPr>
        <p:spPr>
          <a:xfrm>
            <a:off x="4911822" y="2898498"/>
            <a:ext cx="31561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Gait alteration</a:t>
            </a:r>
          </a:p>
          <a:p>
            <a:r>
              <a:rPr lang="en-GB" dirty="0"/>
              <a:t>The prototype caused minimal gait alteration (&lt;2% knee angle deviation) and was comfortable for short-term use, though minor integration issues were observed.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7BD4D6-AA45-F67D-2C7D-7C3A799E57B1}"/>
              </a:ext>
            </a:extLst>
          </p:cNvPr>
          <p:cNvSpPr txBox="1"/>
          <p:nvPr/>
        </p:nvSpPr>
        <p:spPr>
          <a:xfrm>
            <a:off x="96399" y="4525228"/>
            <a:ext cx="4687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Test for manual classification performance by comparing to video. Manual classification was done by applying thresholds of peak values and standard deviation to data.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D3822B-FD6A-C364-F415-6F411CA6359D}"/>
              </a:ext>
            </a:extLst>
          </p:cNvPr>
          <p:cNvSpPr txBox="1"/>
          <p:nvPr/>
        </p:nvSpPr>
        <p:spPr>
          <a:xfrm>
            <a:off x="0" y="343517"/>
            <a:ext cx="4687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Sensor accuracy and gait alteration was measured in the gait laboratory at Guy’s Hospital.</a:t>
            </a:r>
          </a:p>
        </p:txBody>
      </p:sp>
    </p:spTree>
    <p:extLst>
      <p:ext uri="{BB962C8B-B14F-4D97-AF65-F5344CB8AC3E}">
        <p14:creationId xmlns:p14="http://schemas.microsoft.com/office/powerpoint/2010/main" val="1705174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4D934-AD70-9267-D7BA-6872AC7D7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34"/>
            <a:ext cx="12192000" cy="1387611"/>
          </a:xfrm>
        </p:spPr>
        <p:txBody>
          <a:bodyPr>
            <a:normAutofit fontScale="90000"/>
          </a:bodyPr>
          <a:lstStyle/>
          <a:p>
            <a:r>
              <a:rPr lang="en-GB" dirty="0"/>
              <a:t>Smart Knee Sleeve – Group Project (responsible for electronics, firmware and testing) </a:t>
            </a:r>
            <a:r>
              <a:rPr lang="en-GB" sz="1300" dirty="0" err="1">
                <a:hlinkClick r:id="rId2"/>
              </a:rPr>
              <a:t>kentonleung</a:t>
            </a:r>
            <a:r>
              <a:rPr lang="en-GB" sz="1300" dirty="0">
                <a:hlinkClick r:id="rId2"/>
              </a:rPr>
              <a:t>/Knee-Sleeve: This repository will contain files to run the knee sleeve.</a:t>
            </a:r>
            <a:endParaRPr lang="en-GB" sz="1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9F2C16-29AC-281B-EF5E-15CECCDE9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11" y="1386977"/>
            <a:ext cx="1474392" cy="23626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C28327-6041-44EB-8F06-FD6DEE68C5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947" y="1589608"/>
            <a:ext cx="3295557" cy="30217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7159EB-9901-508D-FDAC-402A1D6AF2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01" y="4454013"/>
            <a:ext cx="3951309" cy="2156694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94C96A-9C42-4212-5EF5-C68F7BA641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201" y="4746752"/>
            <a:ext cx="3755923" cy="20062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81FD17-1030-D32C-9FBE-B5139D8CFA7F}"/>
              </a:ext>
            </a:extLst>
          </p:cNvPr>
          <p:cNvSpPr txBox="1"/>
          <p:nvPr/>
        </p:nvSpPr>
        <p:spPr>
          <a:xfrm>
            <a:off x="2083586" y="1563798"/>
            <a:ext cx="26031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Design and built smart knee sleeve from scratch using IMUs.</a:t>
            </a:r>
          </a:p>
          <a:p>
            <a:endParaRPr lang="en-GB" dirty="0"/>
          </a:p>
          <a:p>
            <a:r>
              <a:rPr lang="en-GB" dirty="0"/>
              <a:t>Accompanied by shoe unit to obtain information of relation between knee and foot.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AAD0B9-EBF9-0B61-5154-45B94E43A604}"/>
              </a:ext>
            </a:extLst>
          </p:cNvPr>
          <p:cNvSpPr txBox="1"/>
          <p:nvPr/>
        </p:nvSpPr>
        <p:spPr>
          <a:xfrm>
            <a:off x="7874504" y="1840797"/>
            <a:ext cx="42196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Based on ESP32 microcontrollers with BNO055 inertial measurement units</a:t>
            </a:r>
          </a:p>
          <a:p>
            <a:endParaRPr lang="en-GB" dirty="0"/>
          </a:p>
          <a:p>
            <a:r>
              <a:rPr lang="en-GB" dirty="0"/>
              <a:t>Flex sensor option was explored but not implemented due to time constraints. Although it should be more accurate for measuring knee angle,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71DC3C-FF34-5F01-CD63-EE64D4EEFFAD}"/>
              </a:ext>
            </a:extLst>
          </p:cNvPr>
          <p:cNvSpPr txBox="1"/>
          <p:nvPr/>
        </p:nvSpPr>
        <p:spPr>
          <a:xfrm>
            <a:off x="4794445" y="1261935"/>
            <a:ext cx="2603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Wiring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85DAD5-78CE-0E13-2C75-7A95883282C1}"/>
              </a:ext>
            </a:extLst>
          </p:cNvPr>
          <p:cNvSpPr txBox="1"/>
          <p:nvPr/>
        </p:nvSpPr>
        <p:spPr>
          <a:xfrm>
            <a:off x="1358071" y="4106037"/>
            <a:ext cx="2603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Block diagram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A93349-8459-6D0A-4EBD-55BE3F0A3E91}"/>
              </a:ext>
            </a:extLst>
          </p:cNvPr>
          <p:cNvSpPr txBox="1"/>
          <p:nvPr/>
        </p:nvSpPr>
        <p:spPr>
          <a:xfrm>
            <a:off x="4150231" y="4572656"/>
            <a:ext cx="26031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Knee angle, stride length, walking speed, gait cycle time, single leg support time is calculated and logged wirelessly, then visualized on Grafana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49741A-EF2D-2A38-B20A-378DE7D0AD41}"/>
              </a:ext>
            </a:extLst>
          </p:cNvPr>
          <p:cNvSpPr txBox="1"/>
          <p:nvPr/>
        </p:nvSpPr>
        <p:spPr>
          <a:xfrm>
            <a:off x="9176059" y="4387990"/>
            <a:ext cx="2603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Grafana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693412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81160E-6EAA-1EA0-E94F-461AA501A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092" y="4344912"/>
            <a:ext cx="3848308" cy="2331014"/>
          </a:xfrm>
          <a:prstGeom prst="rect">
            <a:avLst/>
          </a:prstGeom>
        </p:spPr>
      </p:pic>
      <p:pic>
        <p:nvPicPr>
          <p:cNvPr id="2050" name="Picture 2" descr="A person in a swimsuit in a room with a computer&#10;&#10;AI-generated content may be incorrect.">
            <a:extLst>
              <a:ext uri="{FF2B5EF4-FFF2-40B4-BE49-F238E27FC236}">
                <a16:creationId xmlns:a16="http://schemas.microsoft.com/office/drawing/2014/main" id="{5801B4A0-6A0E-B425-4DAE-88828B065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47" y="155626"/>
            <a:ext cx="2150036" cy="286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1A85AE-963C-5FB8-9935-183EBAFBE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873" y="1001012"/>
            <a:ext cx="5798347" cy="24279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2B2630-A3D7-D4A5-D4F3-50E9848E8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80" y="3637129"/>
            <a:ext cx="5917975" cy="2017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5AFE92-DA7D-4989-B235-28F90055DE4E}"/>
              </a:ext>
            </a:extLst>
          </p:cNvPr>
          <p:cNvSpPr txBox="1"/>
          <p:nvPr/>
        </p:nvSpPr>
        <p:spPr>
          <a:xfrm>
            <a:off x="2276983" y="155626"/>
            <a:ext cx="26031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Knee sleeve data is compared to gait lab data as ground truth to assess accuracy</a:t>
            </a:r>
          </a:p>
          <a:p>
            <a:endParaRPr lang="en-GB" dirty="0"/>
          </a:p>
          <a:p>
            <a:r>
              <a:rPr lang="en-GB" dirty="0"/>
              <a:t>A test on biomechanical affects of wearing the device was also tested by comparing gait with and without sleeve.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491E5F-32B7-7EDB-ADAA-F063CC83F23D}"/>
              </a:ext>
            </a:extLst>
          </p:cNvPr>
          <p:cNvSpPr txBox="1"/>
          <p:nvPr/>
        </p:nvSpPr>
        <p:spPr>
          <a:xfrm>
            <a:off x="5843853" y="169834"/>
            <a:ext cx="5917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indicated some considerable error; device is not ready for medical use. However, it may be acceptable as a resource to infer general knee health.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DD3A2-5020-02EB-88F1-C929956B2901}"/>
              </a:ext>
            </a:extLst>
          </p:cNvPr>
          <p:cNvSpPr txBox="1"/>
          <p:nvPr/>
        </p:nvSpPr>
        <p:spPr>
          <a:xfrm>
            <a:off x="242751" y="3264783"/>
            <a:ext cx="591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Inexpensive compared to alternatives on the market.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411785-026D-1C50-5CAE-226C61D022FF}"/>
              </a:ext>
            </a:extLst>
          </p:cNvPr>
          <p:cNvSpPr txBox="1"/>
          <p:nvPr/>
        </p:nvSpPr>
        <p:spPr>
          <a:xfrm>
            <a:off x="6096000" y="3634115"/>
            <a:ext cx="5917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Knee sleeve stunts knee angle by 6 degrees as it restricts knee and foot movement due to bulk and weight.</a:t>
            </a:r>
          </a:p>
        </p:txBody>
      </p:sp>
    </p:spTree>
    <p:extLst>
      <p:ext uri="{BB962C8B-B14F-4D97-AF65-F5344CB8AC3E}">
        <p14:creationId xmlns:p14="http://schemas.microsoft.com/office/powerpoint/2010/main" val="4110530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F57B-CE0E-179C-34E4-248647B97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3906"/>
            <a:ext cx="11946194" cy="1325563"/>
          </a:xfrm>
        </p:spPr>
        <p:txBody>
          <a:bodyPr>
            <a:normAutofit/>
          </a:bodyPr>
          <a:lstStyle/>
          <a:p>
            <a:r>
              <a:rPr lang="en-GB" dirty="0"/>
              <a:t>Parallel Drawing Robot </a:t>
            </a:r>
            <a:r>
              <a:rPr lang="en-GB" sz="2700" dirty="0"/>
              <a:t>– Group Project (responsible for electronics, firmware and user interface) </a:t>
            </a:r>
            <a:r>
              <a:rPr lang="en-GB" sz="2000" dirty="0">
                <a:hlinkClick r:id="rId2"/>
              </a:rPr>
              <a:t>Lucas-G-Xu/Applied-Medical-Robotics-Group-8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D6CC9-2797-884E-1CC1-D8AAFF38B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1657"/>
            <a:ext cx="4364415" cy="2319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6AA642-907B-52E7-1F5E-65BF7AF79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81293"/>
            <a:ext cx="4360117" cy="2876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006B9-D76A-D00B-399A-63E9B9968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42" y="3326366"/>
            <a:ext cx="6211857" cy="345777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B297C83-7AED-41C3-380F-E9D5BD0D9B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8775" y="1527438"/>
            <a:ext cx="7855974" cy="9414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1D9254C-2131-CBF0-0F78-F56649E875E7}"/>
              </a:ext>
            </a:extLst>
          </p:cNvPr>
          <p:cNvSpPr txBox="1"/>
          <p:nvPr/>
        </p:nvSpPr>
        <p:spPr>
          <a:xfrm>
            <a:off x="1184160" y="3611961"/>
            <a:ext cx="2603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Cross sectional view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04B3CB-D2DB-8C2C-186F-332C1C2DC70C}"/>
              </a:ext>
            </a:extLst>
          </p:cNvPr>
          <p:cNvSpPr txBox="1"/>
          <p:nvPr/>
        </p:nvSpPr>
        <p:spPr>
          <a:xfrm>
            <a:off x="5285320" y="1158106"/>
            <a:ext cx="637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MATLAB – Arduino communication flow chart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D752C3-DED1-C995-5E1A-342C4B0B1030}"/>
              </a:ext>
            </a:extLst>
          </p:cNvPr>
          <p:cNvSpPr txBox="1"/>
          <p:nvPr/>
        </p:nvSpPr>
        <p:spPr>
          <a:xfrm>
            <a:off x="10173350" y="3326366"/>
            <a:ext cx="2603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Wiring Diagram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6785F1-D655-1311-062F-E12ABCE32777}"/>
              </a:ext>
            </a:extLst>
          </p:cNvPr>
          <p:cNvSpPr txBox="1"/>
          <p:nvPr/>
        </p:nvSpPr>
        <p:spPr>
          <a:xfrm>
            <a:off x="4360116" y="2442423"/>
            <a:ext cx="7831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 controls robot via MATLAB UI, MATLAB runs kinematics calculations based on inputs, sends required motor angles to device, and the firmware gets the motors to the required angles.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84C27E-AF68-67B6-4E0D-C495113240F8}"/>
              </a:ext>
            </a:extLst>
          </p:cNvPr>
          <p:cNvSpPr txBox="1"/>
          <p:nvPr/>
        </p:nvSpPr>
        <p:spPr>
          <a:xfrm>
            <a:off x="4357369" y="3877906"/>
            <a:ext cx="16157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Device based off 2 motors w/ encoders, current sensor, motor controller, and an Arduino board.</a:t>
            </a:r>
          </a:p>
        </p:txBody>
      </p:sp>
    </p:spTree>
    <p:extLst>
      <p:ext uri="{BB962C8B-B14F-4D97-AF65-F5344CB8AC3E}">
        <p14:creationId xmlns:p14="http://schemas.microsoft.com/office/powerpoint/2010/main" val="3509419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34E59E-3570-C589-DC3F-E5AEED2C4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442" y="3981037"/>
            <a:ext cx="3638189" cy="28406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2C7C5B-A3CA-8317-6A54-048D54611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776" y="4037768"/>
            <a:ext cx="3315163" cy="2924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324EAB-8342-49AF-A645-A5B2DDAEC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11" y="406362"/>
            <a:ext cx="2806972" cy="2521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E579F4-9540-CFC9-9955-45C974B64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519" y="37030"/>
            <a:ext cx="5422114" cy="32062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9A5E24-43F9-B74C-F758-694C3AC65C80}"/>
              </a:ext>
            </a:extLst>
          </p:cNvPr>
          <p:cNvSpPr txBox="1"/>
          <p:nvPr/>
        </p:nvSpPr>
        <p:spPr>
          <a:xfrm>
            <a:off x="1224597" y="37030"/>
            <a:ext cx="1518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MATLAB UI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DF088D-8147-D9D9-F65B-3EB6429208EB}"/>
              </a:ext>
            </a:extLst>
          </p:cNvPr>
          <p:cNvSpPr txBox="1"/>
          <p:nvPr/>
        </p:nvSpPr>
        <p:spPr>
          <a:xfrm>
            <a:off x="12223" y="2869191"/>
            <a:ext cx="32151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User inputs desired coordinates that they want the end effector to move to, or presses “Square” for it to draw a square.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D60AC8-0CAC-BF62-AA71-90253B22F31F}"/>
              </a:ext>
            </a:extLst>
          </p:cNvPr>
          <p:cNvSpPr txBox="1"/>
          <p:nvPr/>
        </p:nvSpPr>
        <p:spPr>
          <a:xfrm>
            <a:off x="4604939" y="3128852"/>
            <a:ext cx="7467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Experimental approach in testing for optimal PID values, by trial and error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A5B986-744B-11C5-7CB5-04C205959C55}"/>
              </a:ext>
            </a:extLst>
          </p:cNvPr>
          <p:cNvSpPr txBox="1"/>
          <p:nvPr/>
        </p:nvSpPr>
        <p:spPr>
          <a:xfrm>
            <a:off x="3023283" y="3745538"/>
            <a:ext cx="2416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Demonstration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A4DC2E-FFEF-E75A-A1B6-A6E4C68EB134}"/>
              </a:ext>
            </a:extLst>
          </p:cNvPr>
          <p:cNvSpPr txBox="1"/>
          <p:nvPr/>
        </p:nvSpPr>
        <p:spPr>
          <a:xfrm>
            <a:off x="6536544" y="3685961"/>
            <a:ext cx="1518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Accuracy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C19FFE-00E5-1ABD-EDC5-7542E5536954}"/>
              </a:ext>
            </a:extLst>
          </p:cNvPr>
          <p:cNvSpPr txBox="1"/>
          <p:nvPr/>
        </p:nvSpPr>
        <p:spPr>
          <a:xfrm>
            <a:off x="9125330" y="4311544"/>
            <a:ext cx="27287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Collision detection implementation was attempted by setting maximum current threshold. Noise makes it ineffective. Low pass filter is a solution.</a:t>
            </a:r>
          </a:p>
        </p:txBody>
      </p:sp>
    </p:spTree>
    <p:extLst>
      <p:ext uri="{BB962C8B-B14F-4D97-AF65-F5344CB8AC3E}">
        <p14:creationId xmlns:p14="http://schemas.microsoft.com/office/powerpoint/2010/main" val="653682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AE72-0EBF-1899-46EC-AD2633058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500"/>
            <a:ext cx="8131277" cy="726256"/>
          </a:xfrm>
        </p:spPr>
        <p:txBody>
          <a:bodyPr/>
          <a:lstStyle/>
          <a:p>
            <a:r>
              <a:rPr lang="en-GB" dirty="0"/>
              <a:t>Quantifying and comparing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DED32-1473-4478-2919-1A42C2F74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17756"/>
            <a:ext cx="5732206" cy="47277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dirty="0"/>
              <a:t>The project aims to develop a system to quantify and compare motion between two subjects, using computer vision, machine learning pose tracking, and a rule-based algorithm for post processing (generating a similarity score between two </a:t>
            </a:r>
            <a:r>
              <a:rPr lang="en-GB" dirty="0" err="1"/>
              <a:t>subjecs</a:t>
            </a:r>
            <a:r>
              <a:rPr lang="en-GB" dirty="0"/>
              <a:t>’ motion)</a:t>
            </a:r>
          </a:p>
        </p:txBody>
      </p:sp>
      <p:pic>
        <p:nvPicPr>
          <p:cNvPr id="5" name="Picture 4" descr="A graph of a skeleton&#10;&#10;AI-generated content may be incorrect.">
            <a:extLst>
              <a:ext uri="{FF2B5EF4-FFF2-40B4-BE49-F238E27FC236}">
                <a16:creationId xmlns:a16="http://schemas.microsoft.com/office/drawing/2014/main" id="{5E2B8A25-CFE4-24CA-CA43-74FA956AA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729" y="-8500"/>
            <a:ext cx="3061681" cy="3899822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603A845-ADF7-A842-F5BD-147F3F258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0527"/>
            <a:ext cx="3070506" cy="244955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E63CB7-1EB4-C15F-18DD-2D1E85304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221" y="4031226"/>
            <a:ext cx="3428954" cy="3093751"/>
          </a:xfrm>
          <a:prstGeom prst="rect">
            <a:avLst/>
          </a:prstGeom>
        </p:spPr>
      </p:pic>
      <p:pic>
        <p:nvPicPr>
          <p:cNvPr id="11" name="Picture 10" descr="A graph of a bar chart&#10;&#10;AI-generated content may be incorrect.">
            <a:extLst>
              <a:ext uri="{FF2B5EF4-FFF2-40B4-BE49-F238E27FC236}">
                <a16:creationId xmlns:a16="http://schemas.microsoft.com/office/drawing/2014/main" id="{7337A4D8-6045-C2BD-1728-AB80A7A3A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649" y="4181553"/>
            <a:ext cx="3962905" cy="2457647"/>
          </a:xfrm>
          <a:prstGeom prst="rect">
            <a:avLst/>
          </a:prstGeom>
        </p:spPr>
      </p:pic>
      <p:pic>
        <p:nvPicPr>
          <p:cNvPr id="13" name="Picture 12" descr="A person standing in front of a large screen&#10;&#10;AI-generated content may be incorrect.">
            <a:extLst>
              <a:ext uri="{FF2B5EF4-FFF2-40B4-BE49-F238E27FC236}">
                <a16:creationId xmlns:a16="http://schemas.microsoft.com/office/drawing/2014/main" id="{9EF3D4A4-5782-4725-374D-ACC3E7D9C9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2797" y="717756"/>
            <a:ext cx="3589153" cy="2917027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F2872F2-634A-515B-2E71-92C796348242}"/>
              </a:ext>
            </a:extLst>
          </p:cNvPr>
          <p:cNvSpPr txBox="1">
            <a:spLocks/>
          </p:cNvSpPr>
          <p:nvPr/>
        </p:nvSpPr>
        <p:spPr>
          <a:xfrm>
            <a:off x="-33221" y="3722173"/>
            <a:ext cx="5732206" cy="47277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A depth camera is used to capture two subjects performing the same motion, the data capture system is built on Unity with </a:t>
            </a:r>
            <a:r>
              <a:rPr lang="en-GB" dirty="0" err="1"/>
              <a:t>NuitrackSDK</a:t>
            </a:r>
            <a:r>
              <a:rPr lang="en-GB" dirty="0"/>
              <a:t>, and data post processed with MATLAB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276CAE0-4BEA-99E7-93A9-CDA0EBFAA007}"/>
              </a:ext>
            </a:extLst>
          </p:cNvPr>
          <p:cNvSpPr txBox="1">
            <a:spLocks/>
          </p:cNvSpPr>
          <p:nvPr/>
        </p:nvSpPr>
        <p:spPr>
          <a:xfrm>
            <a:off x="8845954" y="5341715"/>
            <a:ext cx="2866103" cy="47277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The system was successful in differentiating similar and dissimilar motions by giving a high and low similarity score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942590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583A9-A878-F252-2A06-3E3DA0378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9330"/>
            <a:ext cx="12192000" cy="673558"/>
          </a:xfrm>
        </p:spPr>
        <p:txBody>
          <a:bodyPr>
            <a:normAutofit/>
          </a:bodyPr>
          <a:lstStyle/>
          <a:p>
            <a:r>
              <a:rPr lang="en-GB" sz="2800" b="1" dirty="0"/>
              <a:t>Applied Finite Elements Project </a:t>
            </a:r>
            <a:r>
              <a:rPr lang="en-GB" sz="2800" dirty="0"/>
              <a:t>– Modelling Blood Velocity &amp; Pressure In The Heart</a:t>
            </a:r>
          </a:p>
        </p:txBody>
      </p:sp>
      <p:pic>
        <p:nvPicPr>
          <p:cNvPr id="5" name="Picture 4" descr="A diagram of an infection&#10;&#10;AI-generated content may be incorrect.">
            <a:extLst>
              <a:ext uri="{FF2B5EF4-FFF2-40B4-BE49-F238E27FC236}">
                <a16:creationId xmlns:a16="http://schemas.microsoft.com/office/drawing/2014/main" id="{2E34D329-CD9D-E677-47A3-956E58F5C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18" y="572314"/>
            <a:ext cx="3944654" cy="3232511"/>
          </a:xfrm>
          <a:prstGeom prst="rect">
            <a:avLst/>
          </a:prstGeom>
        </p:spPr>
      </p:pic>
      <p:pic>
        <p:nvPicPr>
          <p:cNvPr id="7" name="Picture 6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980C147A-C027-B27E-B123-ACF2F15BD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419" y="657258"/>
            <a:ext cx="2839162" cy="3018037"/>
          </a:xfrm>
          <a:prstGeom prst="rect">
            <a:avLst/>
          </a:prstGeom>
        </p:spPr>
      </p:pic>
      <p:pic>
        <p:nvPicPr>
          <p:cNvPr id="9" name="Picture 8" descr="A graph of a graph showing a wave&#10;&#10;AI-generated content may be incorrect.">
            <a:extLst>
              <a:ext uri="{FF2B5EF4-FFF2-40B4-BE49-F238E27FC236}">
                <a16:creationId xmlns:a16="http://schemas.microsoft.com/office/drawing/2014/main" id="{E729B389-01E7-9CB0-D3A9-5E7A980D6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143" y="614228"/>
            <a:ext cx="3076454" cy="1833401"/>
          </a:xfrm>
          <a:prstGeom prst="rect">
            <a:avLst/>
          </a:prstGeom>
        </p:spPr>
      </p:pic>
      <p:pic>
        <p:nvPicPr>
          <p:cNvPr id="11" name="Picture 10" descr="A screen shot of a graph&#10;&#10;AI-generated content may be incorrect.">
            <a:extLst>
              <a:ext uri="{FF2B5EF4-FFF2-40B4-BE49-F238E27FC236}">
                <a16:creationId xmlns:a16="http://schemas.microsoft.com/office/drawing/2014/main" id="{AA1195BA-62FA-DB3A-5F2B-DC1A4DA26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6279" y="2271943"/>
            <a:ext cx="3060228" cy="1774105"/>
          </a:xfrm>
          <a:prstGeom prst="rect">
            <a:avLst/>
          </a:prstGeom>
        </p:spPr>
      </p:pic>
      <p:pic>
        <p:nvPicPr>
          <p:cNvPr id="17" name="Picture 16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3316261D-B8AA-AC83-CDDE-B6CFA755C7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8883" y="4336778"/>
            <a:ext cx="3045969" cy="2311305"/>
          </a:xfrm>
          <a:prstGeom prst="rect">
            <a:avLst/>
          </a:prstGeom>
        </p:spPr>
      </p:pic>
      <p:pic>
        <p:nvPicPr>
          <p:cNvPr id="19" name="Picture 18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D58F712F-F0AC-43E3-A65A-740FB710A7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55" y="5636453"/>
            <a:ext cx="5317322" cy="12215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9273EBB-F403-D059-889D-FF35456549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574059"/>
            <a:ext cx="2476846" cy="3905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22284E5-3105-78D5-7C6A-ABB1384057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9" y="4232040"/>
            <a:ext cx="5820587" cy="29531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A7534D2-1A94-9E0D-BED8-671D4113C7CF}"/>
              </a:ext>
            </a:extLst>
          </p:cNvPr>
          <p:cNvSpPr txBox="1"/>
          <p:nvPr/>
        </p:nvSpPr>
        <p:spPr>
          <a:xfrm>
            <a:off x="0" y="3881256"/>
            <a:ext cx="3653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Calculated </a:t>
            </a:r>
            <a:r>
              <a:rPr lang="en-GB" b="1" dirty="0"/>
              <a:t>discretised weak form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024E2F-6F28-105C-4B9D-80ECEE31DE6B}"/>
              </a:ext>
            </a:extLst>
          </p:cNvPr>
          <p:cNvSpPr txBox="1"/>
          <p:nvPr/>
        </p:nvSpPr>
        <p:spPr>
          <a:xfrm>
            <a:off x="4163227" y="3683368"/>
            <a:ext cx="3865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Visual representation of mesh fidelity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0387CE-F4E8-313C-1A85-FCA025DF3EB8}"/>
              </a:ext>
            </a:extLst>
          </p:cNvPr>
          <p:cNvSpPr txBox="1"/>
          <p:nvPr/>
        </p:nvSpPr>
        <p:spPr>
          <a:xfrm>
            <a:off x="39706" y="5041070"/>
            <a:ext cx="5808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Pressure drop and error calculated with different mesh fidelity, assuming finest mesh as ground truth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C35C8A-D976-4921-1651-058AF0D3C987}"/>
              </a:ext>
            </a:extLst>
          </p:cNvPr>
          <p:cNvSpPr txBox="1"/>
          <p:nvPr/>
        </p:nvSpPr>
        <p:spPr>
          <a:xfrm>
            <a:off x="7179860" y="4006747"/>
            <a:ext cx="5110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2D velocity and pressure modelled with fine mesh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3A1EC2-D01E-B7EB-1F76-590093156BE8}"/>
              </a:ext>
            </a:extLst>
          </p:cNvPr>
          <p:cNvSpPr txBox="1"/>
          <p:nvPr/>
        </p:nvSpPr>
        <p:spPr>
          <a:xfrm>
            <a:off x="5819302" y="4723804"/>
            <a:ext cx="3187993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Convergence tests showing:</a:t>
            </a:r>
          </a:p>
          <a:p>
            <a:endParaRPr lang="en-GB" b="1" dirty="0"/>
          </a:p>
          <a:p>
            <a:r>
              <a:rPr lang="en-GB" sz="1600" b="1" dirty="0"/>
              <a:t>finer mesh = higher convergence</a:t>
            </a:r>
          </a:p>
          <a:p>
            <a:endParaRPr lang="en-GB" b="1" dirty="0"/>
          </a:p>
          <a:p>
            <a:r>
              <a:rPr lang="en-GB" sz="1600" b="1" dirty="0"/>
              <a:t>Beyond 5</a:t>
            </a:r>
            <a:r>
              <a:rPr lang="en-GB" sz="1600" b="1" baseline="30000" dirty="0"/>
              <a:t>th</a:t>
            </a:r>
            <a:r>
              <a:rPr lang="en-GB" sz="1600" b="1" dirty="0"/>
              <a:t> iteration = diminishing returns</a:t>
            </a:r>
          </a:p>
        </p:txBody>
      </p:sp>
    </p:spTree>
    <p:extLst>
      <p:ext uri="{BB962C8B-B14F-4D97-AF65-F5344CB8AC3E}">
        <p14:creationId xmlns:p14="http://schemas.microsoft.com/office/powerpoint/2010/main" val="313227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</Words>
  <Application>Microsoft Office PowerPoint</Application>
  <PresentationFormat>Widescreen</PresentationFormat>
  <Paragraphs>95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Full stack web development – revamp of a 2-decade old web hosting services provider website https://www.unlimit-hosting.com/  </vt:lpstr>
      <vt:lpstr>Full stack web development – revamp of a 2-decade old web hosting services provider website https://www.unlimit-hosting.com/ </vt:lpstr>
      <vt:lpstr>Image-guided Navigation Simulation for Surgical Robotics</vt:lpstr>
      <vt:lpstr>Low-cost smart insole for monitoring and classifying physical activity kentonleung/Low-cost-Smart-Insole: This repository will contain files to run the insole.</vt:lpstr>
      <vt:lpstr>PowerPoint Presentation</vt:lpstr>
      <vt:lpstr>Smart Knee Sleeve – Group Project (responsible for electronics, firmware and testing) kentonleung/Knee-Sleeve: This repository will contain files to run the knee sleeve.</vt:lpstr>
      <vt:lpstr>PowerPoint Presentation</vt:lpstr>
      <vt:lpstr>Parallel Drawing Robot – Group Project (responsible for electronics, firmware and user interface) Lucas-G-Xu/Applied-Medical-Robotics-Group-8</vt:lpstr>
      <vt:lpstr>PowerPoint Presentation</vt:lpstr>
      <vt:lpstr>Quantifying and comparing motion</vt:lpstr>
      <vt:lpstr>Applied Finite Elements Project – Modelling Blood Velocity &amp; Pressure In The Heart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Dik Chun Leung</dc:creator>
  <cp:lastModifiedBy>Dik Chun Leung</cp:lastModifiedBy>
  <cp:revision>1</cp:revision>
  <dcterms:created xsi:type="dcterms:W3CDTF">2025-10-06T13:03:44Z</dcterms:created>
  <dcterms:modified xsi:type="dcterms:W3CDTF">2026-05-13T17:41:45Z</dcterms:modified>
</cp:coreProperties>
</file>